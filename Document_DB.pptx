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5" roundtripDataSignature="AMtx7mhKxQthh/wu/xpweUsT9aMZn3Tm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 name="Google Shape;4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19f85fd9a62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 name="Google Shape;61;g19f85fd9a62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120"/>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20"/>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9" name="Google Shape;19;p120"/>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121"/>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chemeClr val="dk1"/>
              </a:buClr>
              <a:buSzPts val="3200"/>
              <a:buFont typeface="Calibri"/>
              <a:buNone/>
              <a:defRPr sz="32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2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 name="Google Shape;23;p121"/>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121"/>
          <p:cNvSpPr/>
          <p:nvPr/>
        </p:nvSpPr>
        <p:spPr>
          <a:xfrm>
            <a:off x="0" y="666750"/>
            <a:ext cx="9144000" cy="45719"/>
          </a:xfrm>
          <a:prstGeom prst="rect">
            <a:avLst/>
          </a:prstGeom>
          <a:solidFill>
            <a:srgbClr val="E36C0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123"/>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23"/>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123"/>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24"/>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24"/>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124"/>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124"/>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12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25"/>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7" name="Google Shape;37;p125"/>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38" name="Google Shape;38;p125"/>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125"/>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125"/>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12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26"/>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9"/>
          <p:cNvSpPr/>
          <p:nvPr/>
        </p:nvSpPr>
        <p:spPr>
          <a:xfrm>
            <a:off x="0" y="4888706"/>
            <a:ext cx="9144000" cy="254794"/>
          </a:xfrm>
          <a:prstGeom prst="rect">
            <a:avLst/>
          </a:prstGeom>
          <a:solidFill>
            <a:srgbClr val="538CD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 name="Google Shape;11;p11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119"/>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 name="Google Shape;13;p119"/>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119"/>
          <p:cNvSpPr txBox="1"/>
          <p:nvPr/>
        </p:nvSpPr>
        <p:spPr>
          <a:xfrm>
            <a:off x="381000" y="4888706"/>
            <a:ext cx="7137057" cy="2738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libri"/>
                <a:ea typeface="Calibri"/>
                <a:cs typeface="Calibri"/>
                <a:sym typeface="Calibri"/>
              </a:rPr>
              <a:t>© DataMites®. All Rights Reserved | www.datamites.com                    DATA SCIENCE FOUNDATION</a:t>
            </a:r>
            <a:endParaRPr b="1" i="0" sz="1200" u="none" cap="none" strike="noStrike">
              <a:solidFill>
                <a:schemeClr val="lt1"/>
              </a:solidFill>
              <a:latin typeface="Calibri"/>
              <a:ea typeface="Calibri"/>
              <a:cs typeface="Calibri"/>
              <a:sym typeface="Calibri"/>
            </a:endParaRPr>
          </a:p>
        </p:txBody>
      </p:sp>
      <p:pic>
        <p:nvPicPr>
          <p:cNvPr descr="Logo&#10;&#10;Description automatically generated" id="15" name="Google Shape;15;p119"/>
          <p:cNvPicPr preferRelativeResize="0"/>
          <p:nvPr/>
        </p:nvPicPr>
        <p:blipFill rotWithShape="1">
          <a:blip r:embed="rId1">
            <a:alphaModFix/>
          </a:blip>
          <a:srcRect b="0" l="0" r="0" t="0"/>
          <a:stretch/>
        </p:blipFill>
        <p:spPr>
          <a:xfrm>
            <a:off x="7822857" y="4635049"/>
            <a:ext cx="1168743" cy="30247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sp>
        <p:nvSpPr>
          <p:cNvPr id="48" name="Google Shape;48;p22"/>
          <p:cNvSpPr txBox="1"/>
          <p:nvPr>
            <p:ph type="ctrTitle"/>
          </p:nvPr>
        </p:nvSpPr>
        <p:spPr>
          <a:xfrm>
            <a:off x="4572000" y="1080925"/>
            <a:ext cx="3886200" cy="1314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960"/>
              <a:buFont typeface="Calibri"/>
              <a:buNone/>
            </a:pPr>
            <a:r>
              <a:rPr b="1" lang="en-US" sz="4000"/>
              <a:t>Document DB/No-SQL DB</a:t>
            </a:r>
            <a:endParaRPr b="1" sz="4000"/>
          </a:p>
        </p:txBody>
      </p:sp>
      <p:sp>
        <p:nvSpPr>
          <p:cNvPr id="49" name="Google Shape;49;p22"/>
          <p:cNvSpPr txBox="1"/>
          <p:nvPr>
            <p:ph idx="12" type="sldNum"/>
          </p:nvPr>
        </p:nvSpPr>
        <p:spPr>
          <a:xfrm>
            <a:off x="8458200" y="4888706"/>
            <a:ext cx="533400" cy="2357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pic>
        <p:nvPicPr>
          <p:cNvPr descr="Image result for machine learning robot" id="50" name="Google Shape;50;p22"/>
          <p:cNvPicPr preferRelativeResize="0"/>
          <p:nvPr/>
        </p:nvPicPr>
        <p:blipFill rotWithShape="1">
          <a:blip r:embed="rId3">
            <a:alphaModFix/>
          </a:blip>
          <a:srcRect b="0" l="0" r="0" t="0"/>
          <a:stretch/>
        </p:blipFill>
        <p:spPr>
          <a:xfrm>
            <a:off x="0" y="856000"/>
            <a:ext cx="4495800" cy="3371850"/>
          </a:xfrm>
          <a:prstGeom prst="rect">
            <a:avLst/>
          </a:prstGeom>
          <a:noFill/>
          <a:ln>
            <a:noFill/>
          </a:ln>
        </p:spPr>
      </p:pic>
      <p:pic>
        <p:nvPicPr>
          <p:cNvPr descr="What Is a Document Database? Why It's So Flexible and Intuitive" id="51" name="Google Shape;51;p22"/>
          <p:cNvPicPr preferRelativeResize="0"/>
          <p:nvPr/>
        </p:nvPicPr>
        <p:blipFill rotWithShape="1">
          <a:blip r:embed="rId4">
            <a:alphaModFix/>
          </a:blip>
          <a:srcRect b="0" l="0" r="0" t="0"/>
          <a:stretch/>
        </p:blipFill>
        <p:spPr>
          <a:xfrm>
            <a:off x="5205090" y="2747976"/>
            <a:ext cx="2809875" cy="1628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
          <p:cNvSpPr txBox="1"/>
          <p:nvPr>
            <p:ph type="title"/>
          </p:nvPr>
        </p:nvSpPr>
        <p:spPr>
          <a:xfrm>
            <a:off x="457199" y="133350"/>
            <a:ext cx="6284563"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b="0" i="0" lang="en-US">
                <a:solidFill>
                  <a:srgbClr val="212529"/>
                </a:solidFill>
                <a:latin typeface="Roboto"/>
                <a:ea typeface="Roboto"/>
                <a:cs typeface="Roboto"/>
                <a:sym typeface="Roboto"/>
              </a:rPr>
              <a:t>What is Document Database ?</a:t>
            </a:r>
            <a:endParaRPr/>
          </a:p>
        </p:txBody>
      </p:sp>
      <p:sp>
        <p:nvSpPr>
          <p:cNvPr id="57" name="Google Shape;57;p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fontScale="47500" lnSpcReduction="20000"/>
          </a:bodyPr>
          <a:lstStyle/>
          <a:p>
            <a:pPr indent="-342900" lvl="0" marL="457200" rtl="0" algn="l">
              <a:lnSpc>
                <a:spcPct val="100000"/>
              </a:lnSpc>
              <a:spcBef>
                <a:spcPts val="360"/>
              </a:spcBef>
              <a:spcAft>
                <a:spcPts val="0"/>
              </a:spcAft>
              <a:buSzPct val="111455"/>
              <a:buChar char="•"/>
            </a:pPr>
            <a:r>
              <a:rPr b="0" i="0" lang="en-US" sz="3400">
                <a:solidFill>
                  <a:srgbClr val="374151"/>
                </a:solidFill>
                <a:latin typeface="Calibri"/>
                <a:ea typeface="Calibri"/>
                <a:cs typeface="Calibri"/>
                <a:sym typeface="Calibri"/>
              </a:rPr>
              <a:t>A document database is a type of database that is designed to store and retrieve documents, which are typically represented in a format such as JSON (JavaScript Object Notation). These databases are designed to be flexible, allowing for the storage of a wide variety of data types, including text, numbers, images, and more.</a:t>
            </a:r>
            <a:endParaRPr/>
          </a:p>
          <a:p>
            <a:pPr indent="-342900" lvl="0" marL="457200" rtl="0" algn="l">
              <a:lnSpc>
                <a:spcPct val="100000"/>
              </a:lnSpc>
              <a:spcBef>
                <a:spcPts val="360"/>
              </a:spcBef>
              <a:spcAft>
                <a:spcPts val="0"/>
              </a:spcAft>
              <a:buSzPct val="111455"/>
              <a:buChar char="•"/>
            </a:pPr>
            <a:r>
              <a:rPr b="0" i="0" lang="en-US" sz="3400">
                <a:solidFill>
                  <a:srgbClr val="374151"/>
                </a:solidFill>
                <a:latin typeface="Calibri"/>
                <a:ea typeface="Calibri"/>
                <a:cs typeface="Calibri"/>
                <a:sym typeface="Calibri"/>
              </a:rPr>
              <a:t>Document databases are often used to store large volumes of data that is semi-structured or unstructured, meaning that it does not fit neatly into a traditional table-based database structure. They are also often used to store data that is frequently changing or needs to be accessed quickly, as they are typically faster to query than traditional databases.</a:t>
            </a:r>
            <a:endParaRPr/>
          </a:p>
          <a:p>
            <a:pPr indent="-342900" lvl="0" marL="457200" rtl="0" algn="l">
              <a:lnSpc>
                <a:spcPct val="100000"/>
              </a:lnSpc>
              <a:spcBef>
                <a:spcPts val="360"/>
              </a:spcBef>
              <a:spcAft>
                <a:spcPts val="0"/>
              </a:spcAft>
              <a:buSzPct val="111455"/>
              <a:buChar char="•"/>
            </a:pPr>
            <a:r>
              <a:rPr b="0" i="0" lang="en-US" sz="3400">
                <a:solidFill>
                  <a:srgbClr val="374151"/>
                </a:solidFill>
                <a:latin typeface="Calibri"/>
                <a:ea typeface="Calibri"/>
                <a:cs typeface="Calibri"/>
                <a:sym typeface="Calibri"/>
              </a:rPr>
              <a:t>In a document database, each document is typically stored as a separate entity, and can have its own unique set of fields and data. This allows for a high degree of flexibility, as the structure of the data can be changed easily without the need to update the database schema.</a:t>
            </a:r>
            <a:endParaRPr/>
          </a:p>
          <a:p>
            <a:pPr indent="-342900" lvl="0" marL="457200" rtl="0" algn="l">
              <a:lnSpc>
                <a:spcPct val="100000"/>
              </a:lnSpc>
              <a:spcBef>
                <a:spcPts val="360"/>
              </a:spcBef>
              <a:spcAft>
                <a:spcPts val="0"/>
              </a:spcAft>
              <a:buSzPct val="111455"/>
              <a:buChar char="•"/>
            </a:pPr>
            <a:r>
              <a:rPr b="0" i="0" lang="en-US" sz="3400">
                <a:solidFill>
                  <a:srgbClr val="374151"/>
                </a:solidFill>
                <a:latin typeface="Calibri"/>
                <a:ea typeface="Calibri"/>
                <a:cs typeface="Calibri"/>
                <a:sym typeface="Calibri"/>
              </a:rPr>
              <a:t>Some examples of popular document databases include MongoDB and Couchbase.</a:t>
            </a:r>
            <a:endParaRPr/>
          </a:p>
          <a:p>
            <a:pPr indent="-228600" lvl="0" marL="457200" rtl="0" algn="l">
              <a:lnSpc>
                <a:spcPct val="100000"/>
              </a:lnSpc>
              <a:spcBef>
                <a:spcPts val="360"/>
              </a:spcBef>
              <a:spcAft>
                <a:spcPts val="0"/>
              </a:spcAft>
              <a:buClr>
                <a:schemeClr val="dk1"/>
              </a:buClr>
              <a:buSzPct val="118421"/>
              <a:buNone/>
            </a:pPr>
            <a:r>
              <a:t/>
            </a:r>
            <a:endParaRPr/>
          </a:p>
        </p:txBody>
      </p:sp>
      <p:sp>
        <p:nvSpPr>
          <p:cNvPr id="58" name="Google Shape;58;p1"/>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g19f85fd9a62_0_7"/>
          <p:cNvSpPr txBox="1"/>
          <p:nvPr>
            <p:ph type="title"/>
          </p:nvPr>
        </p:nvSpPr>
        <p:spPr>
          <a:xfrm>
            <a:off x="457200" y="133350"/>
            <a:ext cx="5715000" cy="460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sz="2800"/>
              <a:t>Why Document DB ?</a:t>
            </a:r>
            <a:endParaRPr sz="2800"/>
          </a:p>
        </p:txBody>
      </p:sp>
      <p:sp>
        <p:nvSpPr>
          <p:cNvPr id="64" name="Google Shape;64;g19f85fd9a62_0_7"/>
          <p:cNvSpPr txBox="1"/>
          <p:nvPr>
            <p:ph idx="1" type="body"/>
          </p:nvPr>
        </p:nvSpPr>
        <p:spPr>
          <a:xfrm>
            <a:off x="304800" y="874514"/>
            <a:ext cx="8534400" cy="3394500"/>
          </a:xfrm>
          <a:prstGeom prst="rect">
            <a:avLst/>
          </a:prstGeom>
          <a:noFill/>
          <a:ln>
            <a:noFill/>
          </a:ln>
        </p:spPr>
        <p:txBody>
          <a:bodyPr anchorCtr="0" anchor="t" bIns="45700" lIns="91425" spcFirstLastPara="1" rIns="91425" wrap="square" tIns="45700">
            <a:normAutofit lnSpcReduction="10000"/>
          </a:bodyPr>
          <a:lstStyle/>
          <a:p>
            <a:pPr indent="0" lvl="0" marL="114300" rtl="0" algn="l">
              <a:lnSpc>
                <a:spcPct val="100000"/>
              </a:lnSpc>
              <a:spcBef>
                <a:spcPts val="360"/>
              </a:spcBef>
              <a:spcAft>
                <a:spcPts val="0"/>
              </a:spcAft>
              <a:buSzPts val="1800"/>
              <a:buNone/>
            </a:pPr>
            <a:r>
              <a:rPr b="0" i="0" lang="en-US" sz="1600">
                <a:solidFill>
                  <a:srgbClr val="374151"/>
                </a:solidFill>
                <a:latin typeface="Calibri"/>
                <a:ea typeface="Calibri"/>
                <a:cs typeface="Calibri"/>
                <a:sym typeface="Calibri"/>
              </a:rPr>
              <a:t>There are several advantages of using a document database over a traditional relational database:</a:t>
            </a:r>
            <a:endParaRPr/>
          </a:p>
          <a:p>
            <a:pPr indent="0" lvl="0" marL="114300" rtl="0" algn="l">
              <a:lnSpc>
                <a:spcPct val="100000"/>
              </a:lnSpc>
              <a:spcBef>
                <a:spcPts val="360"/>
              </a:spcBef>
              <a:spcAft>
                <a:spcPts val="0"/>
              </a:spcAft>
              <a:buSzPts val="1800"/>
              <a:buNone/>
            </a:pPr>
            <a:r>
              <a:t/>
            </a:r>
            <a:endParaRPr b="0" i="0" sz="1600">
              <a:solidFill>
                <a:srgbClr val="374151"/>
              </a:solidFill>
              <a:latin typeface="Calibri"/>
              <a:ea typeface="Calibri"/>
              <a:cs typeface="Calibri"/>
              <a:sym typeface="Calibri"/>
            </a:endParaRPr>
          </a:p>
          <a:p>
            <a:pPr indent="-342900" lvl="0" marL="457200" rtl="0" algn="l">
              <a:lnSpc>
                <a:spcPct val="100000"/>
              </a:lnSpc>
              <a:spcBef>
                <a:spcPts val="360"/>
              </a:spcBef>
              <a:spcAft>
                <a:spcPts val="0"/>
              </a:spcAft>
              <a:buClr>
                <a:schemeClr val="dk1"/>
              </a:buClr>
              <a:buSzPts val="1800"/>
              <a:buChar char="•"/>
            </a:pPr>
            <a:r>
              <a:rPr b="0" i="0" lang="en-US" sz="1600">
                <a:solidFill>
                  <a:srgbClr val="374151"/>
                </a:solidFill>
                <a:latin typeface="Calibri"/>
                <a:ea typeface="Calibri"/>
                <a:cs typeface="Calibri"/>
                <a:sym typeface="Calibri"/>
              </a:rPr>
              <a:t>Flexibility: Document databases allow for a high degree of flexibility in terms of data storage, as each document can have its own unique set of fields and data. This is in contrast to a relational database, where data must be structured in a specific way and conform to a predefined schema.</a:t>
            </a:r>
            <a:endParaRPr/>
          </a:p>
          <a:p>
            <a:pPr indent="-342900" lvl="0" marL="457200" rtl="0" algn="l">
              <a:lnSpc>
                <a:spcPct val="100000"/>
              </a:lnSpc>
              <a:spcBef>
                <a:spcPts val="360"/>
              </a:spcBef>
              <a:spcAft>
                <a:spcPts val="0"/>
              </a:spcAft>
              <a:buClr>
                <a:schemeClr val="dk1"/>
              </a:buClr>
              <a:buSzPts val="1800"/>
              <a:buChar char="•"/>
            </a:pPr>
            <a:r>
              <a:rPr b="0" i="0" lang="en-US" sz="1600">
                <a:solidFill>
                  <a:srgbClr val="374151"/>
                </a:solidFill>
                <a:latin typeface="Calibri"/>
                <a:ea typeface="Calibri"/>
                <a:cs typeface="Calibri"/>
                <a:sym typeface="Calibri"/>
              </a:rPr>
              <a:t>Scalability: Document databases are often more scalable than relational databases, as they can handle large volumes of data more efficiently. This is due to their ability to store data in a flexible, semi-structured format, which allows them to scale horizontally by distributing data across multiple servers.</a:t>
            </a:r>
            <a:endParaRPr/>
          </a:p>
          <a:p>
            <a:pPr indent="-342900" lvl="0" marL="457200" rtl="0" algn="l">
              <a:lnSpc>
                <a:spcPct val="100000"/>
              </a:lnSpc>
              <a:spcBef>
                <a:spcPts val="360"/>
              </a:spcBef>
              <a:spcAft>
                <a:spcPts val="0"/>
              </a:spcAft>
              <a:buClr>
                <a:schemeClr val="dk1"/>
              </a:buClr>
              <a:buSzPts val="1800"/>
              <a:buChar char="•"/>
            </a:pPr>
            <a:r>
              <a:rPr b="0" i="0" lang="en-US" sz="1600">
                <a:solidFill>
                  <a:srgbClr val="374151"/>
                </a:solidFill>
                <a:latin typeface="Calibri"/>
                <a:ea typeface="Calibri"/>
                <a:cs typeface="Calibri"/>
                <a:sym typeface="Calibri"/>
              </a:rPr>
              <a:t>Performance: Document databases are typically faster to query than relational databases, as they do not require complex joins between tables. This makes them well-suited for applications that require fast data access, such as real-time analytics or online e-commerce systems.</a:t>
            </a:r>
            <a:endParaRPr/>
          </a:p>
          <a:p>
            <a:pPr indent="0" lvl="0" marL="0" rtl="0" algn="l">
              <a:lnSpc>
                <a:spcPct val="100000"/>
              </a:lnSpc>
              <a:spcBef>
                <a:spcPts val="1176"/>
              </a:spcBef>
              <a:spcAft>
                <a:spcPts val="0"/>
              </a:spcAft>
              <a:buSzPts val="1800"/>
              <a:buNone/>
            </a:pPr>
            <a:r>
              <a:t/>
            </a:r>
            <a:endParaRPr sz="1600"/>
          </a:p>
        </p:txBody>
      </p:sp>
      <p:sp>
        <p:nvSpPr>
          <p:cNvPr id="65" name="Google Shape;65;g19f85fd9a62_0_7"/>
          <p:cNvSpPr txBox="1"/>
          <p:nvPr>
            <p:ph idx="12" type="sldNum"/>
          </p:nvPr>
        </p:nvSpPr>
        <p:spPr>
          <a:xfrm>
            <a:off x="8458200" y="4850606"/>
            <a:ext cx="533400" cy="2928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2"/>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b="0" i="0" lang="en-US">
                <a:solidFill>
                  <a:srgbClr val="343541"/>
                </a:solidFill>
                <a:latin typeface="Arial"/>
                <a:ea typeface="Arial"/>
                <a:cs typeface="Arial"/>
                <a:sym typeface="Arial"/>
              </a:rPr>
              <a:t>Document DB vs SQL DB</a:t>
            </a:r>
            <a:endParaRPr/>
          </a:p>
        </p:txBody>
      </p:sp>
      <p:sp>
        <p:nvSpPr>
          <p:cNvPr id="71" name="Google Shape;71;p2"/>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fontScale="47500" lnSpcReduction="20000"/>
          </a:bodyPr>
          <a:lstStyle/>
          <a:p>
            <a:pPr indent="0" lvl="0" marL="114300" rtl="0" algn="l">
              <a:lnSpc>
                <a:spcPct val="100000"/>
              </a:lnSpc>
              <a:spcBef>
                <a:spcPts val="360"/>
              </a:spcBef>
              <a:spcAft>
                <a:spcPts val="0"/>
              </a:spcAft>
              <a:buSzPct val="111455"/>
              <a:buNone/>
            </a:pPr>
            <a:r>
              <a:rPr b="0" i="0" lang="en-US" sz="3400">
                <a:solidFill>
                  <a:srgbClr val="374151"/>
                </a:solidFill>
                <a:latin typeface="Calibri"/>
                <a:ea typeface="Calibri"/>
                <a:cs typeface="Calibri"/>
                <a:sym typeface="Calibri"/>
              </a:rPr>
              <a:t>Document databases and SQL databases are both types of databases that are used to store and retrieve data. However, there are some key differences between the two types of databases:</a:t>
            </a:r>
            <a:endParaRPr/>
          </a:p>
          <a:p>
            <a:pPr indent="0" lvl="0" marL="114300" rtl="0" algn="l">
              <a:lnSpc>
                <a:spcPct val="100000"/>
              </a:lnSpc>
              <a:spcBef>
                <a:spcPts val="360"/>
              </a:spcBef>
              <a:spcAft>
                <a:spcPts val="0"/>
              </a:spcAft>
              <a:buSzPct val="111455"/>
              <a:buNone/>
            </a:pPr>
            <a:r>
              <a:t/>
            </a:r>
            <a:endParaRPr b="0" i="0" sz="3400">
              <a:solidFill>
                <a:srgbClr val="374151"/>
              </a:solidFill>
              <a:latin typeface="Calibri"/>
              <a:ea typeface="Calibri"/>
              <a:cs typeface="Calibri"/>
              <a:sym typeface="Calibri"/>
            </a:endParaRPr>
          </a:p>
          <a:p>
            <a:pPr indent="-342900" lvl="0" marL="457200" rtl="0" algn="l">
              <a:lnSpc>
                <a:spcPct val="100000"/>
              </a:lnSpc>
              <a:spcBef>
                <a:spcPts val="360"/>
              </a:spcBef>
              <a:spcAft>
                <a:spcPts val="0"/>
              </a:spcAft>
              <a:buClr>
                <a:schemeClr val="dk1"/>
              </a:buClr>
              <a:buSzPct val="111455"/>
              <a:buChar char="•"/>
            </a:pPr>
            <a:r>
              <a:rPr b="0" i="0" lang="en-US" sz="3400">
                <a:solidFill>
                  <a:srgbClr val="374151"/>
                </a:solidFill>
                <a:latin typeface="Calibri"/>
                <a:ea typeface="Calibri"/>
                <a:cs typeface="Calibri"/>
                <a:sym typeface="Calibri"/>
              </a:rPr>
              <a:t>Data structure: Document databases store data in a semi-structured format, typically using a format such as JSON (JavaScript Object Notation). This allows for a high degree of flexibility, as each document can have its own unique set of fields and data. In contrast, SQL databases store data in a structured format, using tables with rows and columns.</a:t>
            </a:r>
            <a:endParaRPr/>
          </a:p>
          <a:p>
            <a:pPr indent="-342900" lvl="0" marL="457200" rtl="0" algn="l">
              <a:lnSpc>
                <a:spcPct val="100000"/>
              </a:lnSpc>
              <a:spcBef>
                <a:spcPts val="360"/>
              </a:spcBef>
              <a:spcAft>
                <a:spcPts val="0"/>
              </a:spcAft>
              <a:buClr>
                <a:schemeClr val="dk1"/>
              </a:buClr>
              <a:buSzPct val="111455"/>
              <a:buChar char="•"/>
            </a:pPr>
            <a:r>
              <a:rPr b="0" i="0" lang="en-US" sz="3400">
                <a:solidFill>
                  <a:srgbClr val="374151"/>
                </a:solidFill>
                <a:latin typeface="Calibri"/>
                <a:ea typeface="Calibri"/>
                <a:cs typeface="Calibri"/>
                <a:sym typeface="Calibri"/>
              </a:rPr>
              <a:t>Data modeling: Document databases allow for more natural data modeling, as they can store data in a way that more closely resembles the way it is represented in the real world. This can make it easier to store and retrieve data, as it requires fewer relationships and joins between tables. In contrast, SQL databases require the user to define a schema upfront, which can make data modeling more difficult.</a:t>
            </a:r>
            <a:endParaRPr/>
          </a:p>
          <a:p>
            <a:pPr indent="-342900" lvl="0" marL="457200" rtl="0" algn="l">
              <a:lnSpc>
                <a:spcPct val="100000"/>
              </a:lnSpc>
              <a:spcBef>
                <a:spcPts val="360"/>
              </a:spcBef>
              <a:spcAft>
                <a:spcPts val="0"/>
              </a:spcAft>
              <a:buClr>
                <a:schemeClr val="dk1"/>
              </a:buClr>
              <a:buSzPct val="111455"/>
              <a:buChar char="•"/>
            </a:pPr>
            <a:r>
              <a:rPr b="0" i="0" lang="en-US" sz="3400">
                <a:solidFill>
                  <a:srgbClr val="374151"/>
                </a:solidFill>
                <a:latin typeface="Calibri"/>
                <a:ea typeface="Calibri"/>
                <a:cs typeface="Calibri"/>
                <a:sym typeface="Calibri"/>
              </a:rPr>
              <a:t>Query language: Document databases typically use a query language that is different from SQL, such as MongoDB's MongoDB Query Language (MQL). SQL databases, on the other hand, use the Structured Query Language (SQL) for querying data.</a:t>
            </a:r>
            <a:endParaRPr/>
          </a:p>
          <a:p>
            <a:pPr indent="-228600" lvl="0" marL="457200" rtl="0" algn="l">
              <a:lnSpc>
                <a:spcPct val="100000"/>
              </a:lnSpc>
              <a:spcBef>
                <a:spcPts val="360"/>
              </a:spcBef>
              <a:spcAft>
                <a:spcPts val="0"/>
              </a:spcAft>
              <a:buClr>
                <a:schemeClr val="dk1"/>
              </a:buClr>
              <a:buSzPct val="118421"/>
              <a:buNone/>
            </a:pPr>
            <a:r>
              <a:t/>
            </a:r>
            <a:endParaRPr/>
          </a:p>
        </p:txBody>
      </p:sp>
      <p:sp>
        <p:nvSpPr>
          <p:cNvPr id="72" name="Google Shape;72;p2"/>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3"/>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b="0" i="0" lang="en-US">
                <a:solidFill>
                  <a:srgbClr val="343541"/>
                </a:solidFill>
                <a:latin typeface="Arial"/>
                <a:ea typeface="Arial"/>
                <a:cs typeface="Arial"/>
                <a:sym typeface="Arial"/>
              </a:rPr>
              <a:t>Document DB vs SQL DB</a:t>
            </a:r>
            <a:endParaRPr/>
          </a:p>
        </p:txBody>
      </p:sp>
      <p:sp>
        <p:nvSpPr>
          <p:cNvPr id="78" name="Google Shape;78;p3"/>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b="0" i="0" lang="en-US" sz="1600">
                <a:solidFill>
                  <a:srgbClr val="374151"/>
                </a:solidFill>
                <a:latin typeface="Calibri"/>
                <a:ea typeface="Calibri"/>
                <a:cs typeface="Calibri"/>
                <a:sym typeface="Calibri"/>
              </a:rPr>
              <a:t>Performance: Document databases are typically faster to query than SQL databases, as they do not require complex joins between tables. This makes them well-suited for applications that require fast data access, such as real-time analytics or online e-commerce systems.</a:t>
            </a:r>
            <a:endParaRPr/>
          </a:p>
          <a:p>
            <a:pPr indent="-342900" lvl="0" marL="457200" rtl="0" algn="l">
              <a:lnSpc>
                <a:spcPct val="100000"/>
              </a:lnSpc>
              <a:spcBef>
                <a:spcPts val="360"/>
              </a:spcBef>
              <a:spcAft>
                <a:spcPts val="0"/>
              </a:spcAft>
              <a:buClr>
                <a:schemeClr val="dk1"/>
              </a:buClr>
              <a:buSzPts val="1800"/>
              <a:buChar char="•"/>
            </a:pPr>
            <a:r>
              <a:rPr b="0" i="0" lang="en-US" sz="1600">
                <a:solidFill>
                  <a:srgbClr val="374151"/>
                </a:solidFill>
                <a:latin typeface="Calibri"/>
                <a:ea typeface="Calibri"/>
                <a:cs typeface="Calibri"/>
                <a:sym typeface="Calibri"/>
              </a:rPr>
              <a:t>Use cases: Document databases are often used for applications that require the storage of large volumes of semi-structured or unstructured data, such as web-based applications, mobile apps, and real-time analytics systems. SQL databases, on the other hand, are often used for applications that require the storage of structured data and support transactions, such as financial systems and customer relationship management (CRM) systems.</a:t>
            </a:r>
            <a:endParaRPr/>
          </a:p>
          <a:p>
            <a:pPr indent="-228600" lvl="0" marL="457200" rtl="0" algn="l">
              <a:lnSpc>
                <a:spcPct val="100000"/>
              </a:lnSpc>
              <a:spcBef>
                <a:spcPts val="360"/>
              </a:spcBef>
              <a:spcAft>
                <a:spcPts val="0"/>
              </a:spcAft>
              <a:buClr>
                <a:schemeClr val="dk1"/>
              </a:buClr>
              <a:buSzPts val="1800"/>
              <a:buNone/>
            </a:pPr>
            <a:r>
              <a:t/>
            </a:r>
            <a:endParaRPr/>
          </a:p>
        </p:txBody>
      </p:sp>
      <p:sp>
        <p:nvSpPr>
          <p:cNvPr id="79" name="Google Shape;79;p3"/>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4"/>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Popular Document DBs</a:t>
            </a:r>
            <a:endParaRPr/>
          </a:p>
        </p:txBody>
      </p:sp>
      <p:sp>
        <p:nvSpPr>
          <p:cNvPr id="85" name="Google Shape;85;p4"/>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fontScale="25000" lnSpcReduction="20000"/>
          </a:bodyPr>
          <a:lstStyle/>
          <a:p>
            <a:pPr indent="-342900" lvl="0" marL="457200" rtl="0" algn="l">
              <a:lnSpc>
                <a:spcPct val="100000"/>
              </a:lnSpc>
              <a:spcBef>
                <a:spcPts val="360"/>
              </a:spcBef>
              <a:spcAft>
                <a:spcPts val="0"/>
              </a:spcAft>
              <a:buClr>
                <a:schemeClr val="dk1"/>
              </a:buClr>
              <a:buSzPct val="112500"/>
              <a:buChar char="•"/>
            </a:pPr>
            <a:r>
              <a:rPr b="1" i="0" lang="en-US" sz="6400">
                <a:solidFill>
                  <a:srgbClr val="374151"/>
                </a:solidFill>
                <a:latin typeface="Calibri"/>
                <a:ea typeface="Calibri"/>
                <a:cs typeface="Calibri"/>
                <a:sym typeface="Calibri"/>
              </a:rPr>
              <a:t>MongoDB</a:t>
            </a:r>
            <a:r>
              <a:rPr b="0" i="0" lang="en-US" sz="6400">
                <a:solidFill>
                  <a:srgbClr val="374151"/>
                </a:solidFill>
                <a:latin typeface="Calibri"/>
                <a:ea typeface="Calibri"/>
                <a:cs typeface="Calibri"/>
                <a:sym typeface="Calibri"/>
              </a:rPr>
              <a:t>: MongoDB is a popular open-source document database that is widely used for storing large volumes of semi-structured data. It uses the MongoDB Query Language (MQL) for querying data, and supports a wide range of data types, including text, numbers, images, and more.</a:t>
            </a:r>
            <a:endParaRPr/>
          </a:p>
          <a:p>
            <a:pPr indent="-342900" lvl="0" marL="457200" rtl="0" algn="l">
              <a:lnSpc>
                <a:spcPct val="100000"/>
              </a:lnSpc>
              <a:spcBef>
                <a:spcPts val="360"/>
              </a:spcBef>
              <a:spcAft>
                <a:spcPts val="0"/>
              </a:spcAft>
              <a:buClr>
                <a:schemeClr val="dk1"/>
              </a:buClr>
              <a:buSzPct val="112500"/>
              <a:buChar char="•"/>
            </a:pPr>
            <a:r>
              <a:rPr b="1" i="0" lang="en-US" sz="6400">
                <a:solidFill>
                  <a:srgbClr val="374151"/>
                </a:solidFill>
                <a:latin typeface="Calibri"/>
                <a:ea typeface="Calibri"/>
                <a:cs typeface="Calibri"/>
                <a:sym typeface="Calibri"/>
              </a:rPr>
              <a:t>Couchbase</a:t>
            </a:r>
            <a:r>
              <a:rPr b="0" i="0" lang="en-US" sz="6400">
                <a:solidFill>
                  <a:srgbClr val="374151"/>
                </a:solidFill>
                <a:latin typeface="Calibri"/>
                <a:ea typeface="Calibri"/>
                <a:cs typeface="Calibri"/>
                <a:sym typeface="Calibri"/>
              </a:rPr>
              <a:t>: Couchbase is a distributed NoSQL document database that is known for its scalability and high performance. It uses the Couchbase Query Language (CBL) for querying data, and supports a wide range of data types.</a:t>
            </a:r>
            <a:endParaRPr/>
          </a:p>
          <a:p>
            <a:pPr indent="-342900" lvl="0" marL="457200" rtl="0" algn="l">
              <a:lnSpc>
                <a:spcPct val="100000"/>
              </a:lnSpc>
              <a:spcBef>
                <a:spcPts val="360"/>
              </a:spcBef>
              <a:spcAft>
                <a:spcPts val="0"/>
              </a:spcAft>
              <a:buClr>
                <a:schemeClr val="dk1"/>
              </a:buClr>
              <a:buSzPct val="112500"/>
              <a:buChar char="•"/>
            </a:pPr>
            <a:r>
              <a:rPr b="1" i="0" lang="en-US" sz="6400">
                <a:solidFill>
                  <a:srgbClr val="374151"/>
                </a:solidFill>
                <a:latin typeface="Calibri"/>
                <a:ea typeface="Calibri"/>
                <a:cs typeface="Calibri"/>
                <a:sym typeface="Calibri"/>
              </a:rPr>
              <a:t>Amazon DocumentDB</a:t>
            </a:r>
            <a:r>
              <a:rPr b="0" i="0" lang="en-US" sz="6400">
                <a:solidFill>
                  <a:srgbClr val="374151"/>
                </a:solidFill>
                <a:latin typeface="Calibri"/>
                <a:ea typeface="Calibri"/>
                <a:cs typeface="Calibri"/>
                <a:sym typeface="Calibri"/>
              </a:rPr>
              <a:t>: Amazon DocumentDB is a managed document database service offered by Amazon Web Services (AWS). It is fully compatible with the MongoDB API, and uses the MongoDB Query Language (MQL) for querying data.</a:t>
            </a:r>
            <a:endParaRPr/>
          </a:p>
          <a:p>
            <a:pPr indent="-342900" lvl="0" marL="457200" rtl="0" algn="l">
              <a:lnSpc>
                <a:spcPct val="100000"/>
              </a:lnSpc>
              <a:spcBef>
                <a:spcPts val="360"/>
              </a:spcBef>
              <a:spcAft>
                <a:spcPts val="0"/>
              </a:spcAft>
              <a:buClr>
                <a:schemeClr val="dk1"/>
              </a:buClr>
              <a:buSzPct val="112500"/>
              <a:buChar char="•"/>
            </a:pPr>
            <a:r>
              <a:rPr b="1" i="0" lang="en-US" sz="6400">
                <a:solidFill>
                  <a:srgbClr val="374151"/>
                </a:solidFill>
                <a:latin typeface="Calibri"/>
                <a:ea typeface="Calibri"/>
                <a:cs typeface="Calibri"/>
                <a:sym typeface="Calibri"/>
              </a:rPr>
              <a:t>Azure Cosmos DB</a:t>
            </a:r>
            <a:r>
              <a:rPr b="0" i="0" lang="en-US" sz="6400">
                <a:solidFill>
                  <a:srgbClr val="374151"/>
                </a:solidFill>
                <a:latin typeface="Calibri"/>
                <a:ea typeface="Calibri"/>
                <a:cs typeface="Calibri"/>
                <a:sym typeface="Calibri"/>
              </a:rPr>
              <a:t>: Azure Cosmos DB is a globally distributed, multi-model database service offered by Microsoft Azure. It supports a variety of data models, including document, key-value, graph, and column-family, and can be accessed using a range of APIs, including the MongoDB API.</a:t>
            </a:r>
            <a:endParaRPr/>
          </a:p>
          <a:p>
            <a:pPr indent="-342900" lvl="0" marL="457200" rtl="0" algn="l">
              <a:lnSpc>
                <a:spcPct val="100000"/>
              </a:lnSpc>
              <a:spcBef>
                <a:spcPts val="360"/>
              </a:spcBef>
              <a:spcAft>
                <a:spcPts val="0"/>
              </a:spcAft>
              <a:buClr>
                <a:schemeClr val="dk1"/>
              </a:buClr>
              <a:buSzPct val="112500"/>
              <a:buChar char="•"/>
            </a:pPr>
            <a:r>
              <a:rPr b="1" i="0" lang="en-US" sz="6400">
                <a:solidFill>
                  <a:srgbClr val="374151"/>
                </a:solidFill>
                <a:latin typeface="Calibri"/>
                <a:ea typeface="Calibri"/>
                <a:cs typeface="Calibri"/>
                <a:sym typeface="Calibri"/>
              </a:rPr>
              <a:t>Google Cloud Firestore</a:t>
            </a:r>
            <a:r>
              <a:rPr b="0" i="0" lang="en-US" sz="6400">
                <a:solidFill>
                  <a:srgbClr val="374151"/>
                </a:solidFill>
                <a:latin typeface="Calibri"/>
                <a:ea typeface="Calibri"/>
                <a:cs typeface="Calibri"/>
                <a:sym typeface="Calibri"/>
              </a:rPr>
              <a:t>: Google Cloud Firestore is a document database service offered by Google Cloud. It is designed to be used with the Google Cloud Firebase platform, and supports real-time updates and offline access to data.</a:t>
            </a:r>
            <a:endParaRPr/>
          </a:p>
          <a:p>
            <a:pPr indent="-228600" lvl="0" marL="457200" rtl="0" algn="l">
              <a:lnSpc>
                <a:spcPct val="100000"/>
              </a:lnSpc>
              <a:spcBef>
                <a:spcPts val="360"/>
              </a:spcBef>
              <a:spcAft>
                <a:spcPts val="0"/>
              </a:spcAft>
              <a:buClr>
                <a:schemeClr val="dk1"/>
              </a:buClr>
              <a:buSzPct val="225000"/>
              <a:buNone/>
            </a:pPr>
            <a:r>
              <a:t/>
            </a:r>
            <a:endParaRPr/>
          </a:p>
        </p:txBody>
      </p:sp>
      <p:sp>
        <p:nvSpPr>
          <p:cNvPr id="86" name="Google Shape;86;p4"/>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5"/>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MongoDB</a:t>
            </a:r>
            <a:endParaRPr/>
          </a:p>
        </p:txBody>
      </p:sp>
      <p:sp>
        <p:nvSpPr>
          <p:cNvPr id="92" name="Google Shape;92;p5"/>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0" lvl="0" marL="114300" rtl="0" algn="l">
              <a:lnSpc>
                <a:spcPct val="100000"/>
              </a:lnSpc>
              <a:spcBef>
                <a:spcPts val="360"/>
              </a:spcBef>
              <a:spcAft>
                <a:spcPts val="0"/>
              </a:spcAft>
              <a:buSzPts val="1800"/>
              <a:buNone/>
            </a:pPr>
            <a:r>
              <a:rPr b="0" i="0" lang="en-US" sz="1700">
                <a:solidFill>
                  <a:srgbClr val="374151"/>
                </a:solidFill>
                <a:latin typeface="Calibri"/>
                <a:ea typeface="Calibri"/>
                <a:cs typeface="Calibri"/>
                <a:sym typeface="Calibri"/>
              </a:rPr>
              <a:t>MongoDB is a popular open-source document database that is widely used for storing large volumes of semi-structured data. Here are some basic concepts and features of MongoDB:</a:t>
            </a:r>
            <a:endParaRPr/>
          </a:p>
          <a:p>
            <a:pPr indent="-342900" lvl="0" marL="457200" rtl="0" algn="l">
              <a:lnSpc>
                <a:spcPct val="100000"/>
              </a:lnSpc>
              <a:spcBef>
                <a:spcPts val="360"/>
              </a:spcBef>
              <a:spcAft>
                <a:spcPts val="0"/>
              </a:spcAft>
              <a:buClr>
                <a:schemeClr val="dk1"/>
              </a:buClr>
              <a:buSzPts val="1800"/>
              <a:buChar char="•"/>
            </a:pPr>
            <a:r>
              <a:rPr b="0" i="0" lang="en-US" sz="1700">
                <a:solidFill>
                  <a:srgbClr val="374151"/>
                </a:solidFill>
                <a:latin typeface="Calibri"/>
                <a:ea typeface="Calibri"/>
                <a:cs typeface="Calibri"/>
                <a:sym typeface="Calibri"/>
              </a:rPr>
              <a:t>Documents: In MongoDB, data is stored in the form of documents, which are similar to JSON objects. Each document can have its own unique set of fields and data, and can be easily modified or updated.</a:t>
            </a:r>
            <a:endParaRPr/>
          </a:p>
          <a:p>
            <a:pPr indent="-342900" lvl="0" marL="457200" rtl="0" algn="l">
              <a:lnSpc>
                <a:spcPct val="100000"/>
              </a:lnSpc>
              <a:spcBef>
                <a:spcPts val="360"/>
              </a:spcBef>
              <a:spcAft>
                <a:spcPts val="0"/>
              </a:spcAft>
              <a:buClr>
                <a:schemeClr val="dk1"/>
              </a:buClr>
              <a:buSzPts val="1800"/>
              <a:buChar char="•"/>
            </a:pPr>
            <a:r>
              <a:rPr b="0" i="0" lang="en-US" sz="1700">
                <a:solidFill>
                  <a:srgbClr val="374151"/>
                </a:solidFill>
                <a:latin typeface="Calibri"/>
                <a:ea typeface="Calibri"/>
                <a:cs typeface="Calibri"/>
                <a:sym typeface="Calibri"/>
              </a:rPr>
              <a:t>Collections: A collection is a group of related documents in MongoDB. Collections are similar to tables in a relational database and can be used to store data for a particular purpose or topic.</a:t>
            </a:r>
            <a:endParaRPr/>
          </a:p>
          <a:p>
            <a:pPr indent="-342900" lvl="0" marL="457200" rtl="0" algn="l">
              <a:lnSpc>
                <a:spcPct val="100000"/>
              </a:lnSpc>
              <a:spcBef>
                <a:spcPts val="360"/>
              </a:spcBef>
              <a:spcAft>
                <a:spcPts val="0"/>
              </a:spcAft>
              <a:buClr>
                <a:schemeClr val="dk1"/>
              </a:buClr>
              <a:buSzPts val="1800"/>
              <a:buChar char="•"/>
            </a:pPr>
            <a:r>
              <a:rPr b="0" i="0" lang="en-US" sz="1600">
                <a:solidFill>
                  <a:srgbClr val="374151"/>
                </a:solidFill>
                <a:latin typeface="Calibri"/>
                <a:ea typeface="Calibri"/>
                <a:cs typeface="Calibri"/>
                <a:sym typeface="Calibri"/>
              </a:rPr>
              <a:t>Query language: MongoDB uses the MongoDB Query Language (MQL) for querying data. MQL is a flexible and expressive language that allows users to filter, sort, and transform data in a variety of ways.</a:t>
            </a:r>
            <a:endParaRPr/>
          </a:p>
          <a:p>
            <a:pPr indent="-228600" lvl="0" marL="457200" rtl="0" algn="l">
              <a:lnSpc>
                <a:spcPct val="100000"/>
              </a:lnSpc>
              <a:spcBef>
                <a:spcPts val="360"/>
              </a:spcBef>
              <a:spcAft>
                <a:spcPts val="0"/>
              </a:spcAft>
              <a:buClr>
                <a:schemeClr val="dk1"/>
              </a:buClr>
              <a:buSzPts val="1800"/>
              <a:buNone/>
            </a:pPr>
            <a:r>
              <a:t/>
            </a:r>
            <a:endParaRPr b="0" i="0" sz="1700">
              <a:solidFill>
                <a:srgbClr val="374151"/>
              </a:solidFill>
              <a:latin typeface="Calibri"/>
              <a:ea typeface="Calibri"/>
              <a:cs typeface="Calibri"/>
              <a:sym typeface="Calibri"/>
            </a:endParaRPr>
          </a:p>
          <a:p>
            <a:pPr indent="-228600" lvl="0" marL="457200" rtl="0" algn="l">
              <a:lnSpc>
                <a:spcPct val="100000"/>
              </a:lnSpc>
              <a:spcBef>
                <a:spcPts val="360"/>
              </a:spcBef>
              <a:spcAft>
                <a:spcPts val="0"/>
              </a:spcAft>
              <a:buClr>
                <a:schemeClr val="dk1"/>
              </a:buClr>
              <a:buSzPts val="1800"/>
              <a:buNone/>
            </a:pPr>
            <a:r>
              <a:t/>
            </a:r>
            <a:endParaRPr/>
          </a:p>
        </p:txBody>
      </p:sp>
      <p:sp>
        <p:nvSpPr>
          <p:cNvPr id="93" name="Google Shape;93;p5"/>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6"/>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MongoDB Data Format</a:t>
            </a:r>
            <a:endParaRPr/>
          </a:p>
        </p:txBody>
      </p:sp>
      <p:sp>
        <p:nvSpPr>
          <p:cNvPr id="99" name="Google Shape;99;p6"/>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SzPts val="1800"/>
              <a:buChar char="•"/>
            </a:pPr>
            <a:r>
              <a:rPr b="0" i="0" lang="en-US" sz="1600">
                <a:solidFill>
                  <a:srgbClr val="374151"/>
                </a:solidFill>
                <a:latin typeface="Arial"/>
                <a:ea typeface="Arial"/>
                <a:cs typeface="Arial"/>
                <a:sym typeface="Arial"/>
              </a:rPr>
              <a:t>In MongoDB, data is stored in the form of documents, which are similar to JSON objects. A document in MongoDB is a collection of key-value pairs, where the keys are strings and the values can be any of a number of data types, including strings, numbers, arrays, and nested documents.</a:t>
            </a:r>
            <a:endParaRPr/>
          </a:p>
          <a:p>
            <a:pPr indent="-342900" lvl="0" marL="457200" rtl="0" algn="l">
              <a:lnSpc>
                <a:spcPct val="100000"/>
              </a:lnSpc>
              <a:spcBef>
                <a:spcPts val="360"/>
              </a:spcBef>
              <a:spcAft>
                <a:spcPts val="0"/>
              </a:spcAft>
              <a:buSzPts val="1800"/>
              <a:buChar char="•"/>
            </a:pPr>
            <a:r>
              <a:rPr b="0" i="0" lang="en-US" sz="1600">
                <a:solidFill>
                  <a:srgbClr val="374151"/>
                </a:solidFill>
                <a:latin typeface="Arial"/>
                <a:ea typeface="Arial"/>
                <a:cs typeface="Arial"/>
                <a:sym typeface="Arial"/>
              </a:rPr>
              <a:t>Here is an example of a simple document in MongoDB:</a:t>
            </a:r>
            <a:endParaRPr/>
          </a:p>
          <a:p>
            <a:pPr indent="-228600" lvl="0" marL="457200" rtl="0" algn="l">
              <a:lnSpc>
                <a:spcPct val="100000"/>
              </a:lnSpc>
              <a:spcBef>
                <a:spcPts val="360"/>
              </a:spcBef>
              <a:spcAft>
                <a:spcPts val="0"/>
              </a:spcAft>
              <a:buSzPts val="1800"/>
              <a:buNone/>
            </a:pPr>
            <a:r>
              <a:t/>
            </a:r>
            <a:endParaRPr b="0" i="0" sz="1600">
              <a:solidFill>
                <a:srgbClr val="374151"/>
              </a:solidFill>
              <a:latin typeface="Arial"/>
              <a:ea typeface="Arial"/>
              <a:cs typeface="Arial"/>
              <a:sym typeface="Arial"/>
            </a:endParaRPr>
          </a:p>
          <a:p>
            <a:pPr indent="-228600" lvl="0" marL="457200" rtl="0" algn="l">
              <a:lnSpc>
                <a:spcPct val="100000"/>
              </a:lnSpc>
              <a:spcBef>
                <a:spcPts val="360"/>
              </a:spcBef>
              <a:spcAft>
                <a:spcPts val="0"/>
              </a:spcAft>
              <a:buClr>
                <a:schemeClr val="dk1"/>
              </a:buClr>
              <a:buSzPts val="1800"/>
              <a:buNone/>
            </a:pPr>
            <a:r>
              <a:t/>
            </a:r>
            <a:endParaRPr/>
          </a:p>
        </p:txBody>
      </p:sp>
      <p:sp>
        <p:nvSpPr>
          <p:cNvPr id="100" name="Google Shape;100;p6"/>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pic>
        <p:nvPicPr>
          <p:cNvPr id="101" name="Google Shape;101;p6"/>
          <p:cNvPicPr preferRelativeResize="0"/>
          <p:nvPr/>
        </p:nvPicPr>
        <p:blipFill rotWithShape="1">
          <a:blip r:embed="rId3">
            <a:alphaModFix/>
          </a:blip>
          <a:srcRect b="0" l="0" r="0" t="0"/>
          <a:stretch/>
        </p:blipFill>
        <p:spPr>
          <a:xfrm>
            <a:off x="691500" y="2756772"/>
            <a:ext cx="4794900" cy="18156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7"/>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MongoDB Data Format</a:t>
            </a:r>
            <a:endParaRPr/>
          </a:p>
        </p:txBody>
      </p:sp>
      <p:sp>
        <p:nvSpPr>
          <p:cNvPr id="107" name="Google Shape;107;p7"/>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b="0" i="0" lang="en-US" sz="1600">
                <a:solidFill>
                  <a:srgbClr val="374151"/>
                </a:solidFill>
                <a:latin typeface="Calibri"/>
                <a:ea typeface="Calibri"/>
                <a:cs typeface="Calibri"/>
                <a:sym typeface="Calibri"/>
              </a:rPr>
              <a:t>In MongoDB, documents can contain any number of fields, and the data types of those fields can vary. For example, the following document contains a mix of string, numeric, and Boolean fields:</a:t>
            </a:r>
            <a:endParaRPr/>
          </a:p>
          <a:p>
            <a:pPr indent="-228600" lvl="0" marL="457200" rtl="0" algn="l">
              <a:lnSpc>
                <a:spcPct val="100000"/>
              </a:lnSpc>
              <a:spcBef>
                <a:spcPts val="360"/>
              </a:spcBef>
              <a:spcAft>
                <a:spcPts val="0"/>
              </a:spcAft>
              <a:buClr>
                <a:schemeClr val="dk1"/>
              </a:buClr>
              <a:buSzPts val="1800"/>
              <a:buNone/>
            </a:pPr>
            <a:r>
              <a:t/>
            </a:r>
            <a:endParaRPr sz="1600">
              <a:solidFill>
                <a:srgbClr val="374151"/>
              </a:solidFill>
              <a:latin typeface="Calibri"/>
              <a:ea typeface="Calibri"/>
              <a:cs typeface="Calibri"/>
              <a:sym typeface="Calibri"/>
            </a:endParaRPr>
          </a:p>
          <a:p>
            <a:pPr indent="-228600" lvl="0" marL="457200" rtl="0" algn="l">
              <a:lnSpc>
                <a:spcPct val="100000"/>
              </a:lnSpc>
              <a:spcBef>
                <a:spcPts val="360"/>
              </a:spcBef>
              <a:spcAft>
                <a:spcPts val="0"/>
              </a:spcAft>
              <a:buClr>
                <a:schemeClr val="dk1"/>
              </a:buClr>
              <a:buSzPts val="1800"/>
              <a:buNone/>
            </a:pPr>
            <a:r>
              <a:t/>
            </a:r>
            <a:endParaRPr sz="1600">
              <a:latin typeface="Calibri"/>
              <a:ea typeface="Calibri"/>
              <a:cs typeface="Calibri"/>
              <a:sym typeface="Calibri"/>
            </a:endParaRPr>
          </a:p>
        </p:txBody>
      </p:sp>
      <p:sp>
        <p:nvSpPr>
          <p:cNvPr id="108" name="Google Shape;108;p7"/>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pic>
        <p:nvPicPr>
          <p:cNvPr id="109" name="Google Shape;109;p7"/>
          <p:cNvPicPr preferRelativeResize="0"/>
          <p:nvPr/>
        </p:nvPicPr>
        <p:blipFill rotWithShape="1">
          <a:blip r:embed="rId3">
            <a:alphaModFix/>
          </a:blip>
          <a:srcRect b="0" l="0" r="0" t="0"/>
          <a:stretch/>
        </p:blipFill>
        <p:spPr>
          <a:xfrm>
            <a:off x="728990" y="2177362"/>
            <a:ext cx="6445561" cy="199168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8"/>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MongoDB Data Format</a:t>
            </a:r>
            <a:endParaRPr/>
          </a:p>
        </p:txBody>
      </p:sp>
      <p:sp>
        <p:nvSpPr>
          <p:cNvPr id="115" name="Google Shape;115;p8"/>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b="0" i="0" lang="en-US" sz="1600">
                <a:solidFill>
                  <a:srgbClr val="374151"/>
                </a:solidFill>
                <a:latin typeface="Calibri"/>
                <a:ea typeface="Calibri"/>
                <a:cs typeface="Calibri"/>
                <a:sym typeface="Calibri"/>
              </a:rPr>
              <a:t>Documents can also contain nested documents and arrays. For example, consider the following document:</a:t>
            </a:r>
            <a:endParaRPr/>
          </a:p>
          <a:p>
            <a:pPr indent="-228600" lvl="0" marL="457200" rtl="0" algn="l">
              <a:lnSpc>
                <a:spcPct val="100000"/>
              </a:lnSpc>
              <a:spcBef>
                <a:spcPts val="360"/>
              </a:spcBef>
              <a:spcAft>
                <a:spcPts val="0"/>
              </a:spcAft>
              <a:buClr>
                <a:schemeClr val="dk1"/>
              </a:buClr>
              <a:buSzPts val="1800"/>
              <a:buNone/>
            </a:pPr>
            <a:r>
              <a:t/>
            </a:r>
            <a:endParaRPr sz="1600">
              <a:latin typeface="Calibri"/>
              <a:ea typeface="Calibri"/>
              <a:cs typeface="Calibri"/>
              <a:sym typeface="Calibri"/>
            </a:endParaRPr>
          </a:p>
        </p:txBody>
      </p:sp>
      <p:sp>
        <p:nvSpPr>
          <p:cNvPr id="116" name="Google Shape;116;p8"/>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pic>
        <p:nvPicPr>
          <p:cNvPr id="117" name="Google Shape;117;p8"/>
          <p:cNvPicPr preferRelativeResize="0"/>
          <p:nvPr/>
        </p:nvPicPr>
        <p:blipFill rotWithShape="1">
          <a:blip r:embed="rId3">
            <a:alphaModFix/>
          </a:blip>
          <a:srcRect b="0" l="0" r="0" t="0"/>
          <a:stretch/>
        </p:blipFill>
        <p:spPr>
          <a:xfrm>
            <a:off x="814076" y="1869905"/>
            <a:ext cx="6656107" cy="24575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9"/>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MongoDB Key methods</a:t>
            </a:r>
            <a:endParaRPr/>
          </a:p>
        </p:txBody>
      </p:sp>
      <p:sp>
        <p:nvSpPr>
          <p:cNvPr id="123" name="Google Shape;123;p9"/>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b="1" i="0" lang="en-US" sz="1600">
                <a:solidFill>
                  <a:srgbClr val="111827"/>
                </a:solidFill>
                <a:latin typeface="Arial"/>
                <a:ea typeface="Arial"/>
                <a:cs typeface="Arial"/>
                <a:sym typeface="Arial"/>
              </a:rPr>
              <a:t>insertOne() : </a:t>
            </a:r>
            <a:r>
              <a:rPr b="0" i="0" lang="en-US" sz="1600">
                <a:solidFill>
                  <a:srgbClr val="374151"/>
                </a:solidFill>
                <a:latin typeface="Arial"/>
                <a:ea typeface="Arial"/>
                <a:cs typeface="Arial"/>
                <a:sym typeface="Arial"/>
              </a:rPr>
              <a:t>This method is used to insert a single document into a collection.</a:t>
            </a:r>
            <a:endParaRPr/>
          </a:p>
          <a:p>
            <a:pPr indent="-342900" lvl="0" marL="457200" rtl="0" algn="l">
              <a:lnSpc>
                <a:spcPct val="100000"/>
              </a:lnSpc>
              <a:spcBef>
                <a:spcPts val="360"/>
              </a:spcBef>
              <a:spcAft>
                <a:spcPts val="0"/>
              </a:spcAft>
              <a:buClr>
                <a:schemeClr val="dk1"/>
              </a:buClr>
              <a:buSzPts val="1800"/>
              <a:buChar char="•"/>
            </a:pPr>
            <a:r>
              <a:rPr b="1" i="0" lang="en-US" sz="1600">
                <a:solidFill>
                  <a:srgbClr val="111827"/>
                </a:solidFill>
                <a:latin typeface="Arial"/>
                <a:ea typeface="Arial"/>
                <a:cs typeface="Arial"/>
                <a:sym typeface="Arial"/>
              </a:rPr>
              <a:t>insertMany()</a:t>
            </a:r>
            <a:r>
              <a:rPr lang="en-US" sz="1600">
                <a:solidFill>
                  <a:srgbClr val="374151"/>
                </a:solidFill>
                <a:latin typeface="Arial"/>
                <a:ea typeface="Arial"/>
                <a:cs typeface="Arial"/>
                <a:sym typeface="Arial"/>
              </a:rPr>
              <a:t> : </a:t>
            </a:r>
            <a:r>
              <a:rPr b="0" i="0" lang="en-US" sz="1600">
                <a:solidFill>
                  <a:srgbClr val="374151"/>
                </a:solidFill>
                <a:latin typeface="Arial"/>
                <a:ea typeface="Arial"/>
                <a:cs typeface="Arial"/>
                <a:sym typeface="Arial"/>
              </a:rPr>
              <a:t>This method is used to insert multiple documents into a collection.</a:t>
            </a:r>
            <a:endParaRPr sz="1600">
              <a:solidFill>
                <a:srgbClr val="374151"/>
              </a:solidFill>
              <a:latin typeface="Arial"/>
              <a:ea typeface="Arial"/>
              <a:cs typeface="Arial"/>
              <a:sym typeface="Arial"/>
            </a:endParaRPr>
          </a:p>
          <a:p>
            <a:pPr indent="-342900" lvl="0" marL="457200" rtl="0" algn="l">
              <a:lnSpc>
                <a:spcPct val="100000"/>
              </a:lnSpc>
              <a:spcBef>
                <a:spcPts val="360"/>
              </a:spcBef>
              <a:spcAft>
                <a:spcPts val="0"/>
              </a:spcAft>
              <a:buClr>
                <a:schemeClr val="dk1"/>
              </a:buClr>
              <a:buSzPts val="1800"/>
              <a:buChar char="•"/>
            </a:pPr>
            <a:r>
              <a:rPr b="1" i="0" lang="en-US" sz="1600">
                <a:solidFill>
                  <a:srgbClr val="111827"/>
                </a:solidFill>
                <a:latin typeface="Arial"/>
                <a:ea typeface="Arial"/>
                <a:cs typeface="Arial"/>
                <a:sym typeface="Arial"/>
              </a:rPr>
              <a:t>find()</a:t>
            </a:r>
            <a:r>
              <a:rPr b="1" i="0" lang="en-US" sz="1600">
                <a:solidFill>
                  <a:srgbClr val="374151"/>
                </a:solidFill>
                <a:latin typeface="Arial"/>
                <a:ea typeface="Arial"/>
                <a:cs typeface="Arial"/>
                <a:sym typeface="Arial"/>
              </a:rPr>
              <a:t> : </a:t>
            </a:r>
            <a:r>
              <a:rPr b="0" i="0" lang="en-US" sz="1600">
                <a:solidFill>
                  <a:srgbClr val="374151"/>
                </a:solidFill>
                <a:latin typeface="Arial"/>
                <a:ea typeface="Arial"/>
                <a:cs typeface="Arial"/>
                <a:sym typeface="Arial"/>
              </a:rPr>
              <a:t>This method is used to retrieve documents from a collection. It takes a query object as an argument, which can be used to specify criteria for filtering the documents that are returned</a:t>
            </a:r>
            <a:endParaRPr/>
          </a:p>
          <a:p>
            <a:pPr indent="-342900" lvl="0" marL="457200" rtl="0" algn="l">
              <a:lnSpc>
                <a:spcPct val="100000"/>
              </a:lnSpc>
              <a:spcBef>
                <a:spcPts val="360"/>
              </a:spcBef>
              <a:spcAft>
                <a:spcPts val="0"/>
              </a:spcAft>
              <a:buClr>
                <a:schemeClr val="dk1"/>
              </a:buClr>
              <a:buSzPts val="1800"/>
              <a:buChar char="•"/>
            </a:pPr>
            <a:r>
              <a:rPr b="1" i="0" lang="en-US" sz="1600">
                <a:solidFill>
                  <a:srgbClr val="111827"/>
                </a:solidFill>
                <a:latin typeface="Arial"/>
                <a:ea typeface="Arial"/>
                <a:cs typeface="Arial"/>
                <a:sym typeface="Arial"/>
              </a:rPr>
              <a:t>updateOne()</a:t>
            </a:r>
            <a:r>
              <a:rPr lang="en-US" sz="1600">
                <a:solidFill>
                  <a:srgbClr val="374151"/>
                </a:solidFill>
                <a:latin typeface="Arial"/>
                <a:ea typeface="Arial"/>
                <a:cs typeface="Arial"/>
                <a:sym typeface="Arial"/>
              </a:rPr>
              <a:t> :</a:t>
            </a:r>
            <a:r>
              <a:rPr b="0" i="0" lang="en-US" sz="1600">
                <a:solidFill>
                  <a:srgbClr val="374151"/>
                </a:solidFill>
                <a:latin typeface="Arial"/>
                <a:ea typeface="Arial"/>
                <a:cs typeface="Arial"/>
                <a:sym typeface="Arial"/>
              </a:rPr>
              <a:t>This method is used to update a single document in a collection. It takes a query object and an update object as arguments, and can be used to modify specific fields in the matching document.</a:t>
            </a:r>
            <a:endParaRPr/>
          </a:p>
          <a:p>
            <a:pPr indent="-342900" lvl="0" marL="457200" rtl="0" algn="l">
              <a:lnSpc>
                <a:spcPct val="100000"/>
              </a:lnSpc>
              <a:spcBef>
                <a:spcPts val="360"/>
              </a:spcBef>
              <a:spcAft>
                <a:spcPts val="0"/>
              </a:spcAft>
              <a:buClr>
                <a:schemeClr val="dk1"/>
              </a:buClr>
              <a:buSzPts val="1800"/>
              <a:buChar char="•"/>
            </a:pPr>
            <a:r>
              <a:rPr b="1" i="0" lang="en-US" sz="1600">
                <a:solidFill>
                  <a:srgbClr val="111827"/>
                </a:solidFill>
                <a:latin typeface="Arial"/>
                <a:ea typeface="Arial"/>
                <a:cs typeface="Arial"/>
                <a:sym typeface="Arial"/>
              </a:rPr>
              <a:t>updateMany()</a:t>
            </a:r>
            <a:r>
              <a:rPr lang="en-US" sz="1600">
                <a:solidFill>
                  <a:srgbClr val="374151"/>
                </a:solidFill>
                <a:latin typeface="Arial"/>
                <a:ea typeface="Arial"/>
                <a:cs typeface="Arial"/>
                <a:sym typeface="Arial"/>
              </a:rPr>
              <a:t> : </a:t>
            </a:r>
            <a:r>
              <a:rPr b="0" i="0" lang="en-US" sz="1600">
                <a:solidFill>
                  <a:srgbClr val="374151"/>
                </a:solidFill>
                <a:latin typeface="Arial"/>
                <a:ea typeface="Arial"/>
                <a:cs typeface="Arial"/>
                <a:sym typeface="Arial"/>
              </a:rPr>
              <a:t>This method is used to update multiple documents in a collection. It takes a query object and an update object as arguments, and can be used to modify specific fields in all matching documents.</a:t>
            </a:r>
            <a:endParaRPr sz="1600"/>
          </a:p>
        </p:txBody>
      </p:sp>
      <p:sp>
        <p:nvSpPr>
          <p:cNvPr id="124" name="Google Shape;124;p9"/>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0"/>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MongoDB Key methods</a:t>
            </a:r>
            <a:endParaRPr/>
          </a:p>
        </p:txBody>
      </p:sp>
      <p:sp>
        <p:nvSpPr>
          <p:cNvPr id="130" name="Google Shape;130;p10"/>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b="1" i="0" lang="en-US" sz="1600">
                <a:solidFill>
                  <a:srgbClr val="111827"/>
                </a:solidFill>
                <a:latin typeface="Arial"/>
                <a:ea typeface="Arial"/>
                <a:cs typeface="Arial"/>
                <a:sym typeface="Arial"/>
              </a:rPr>
              <a:t>deleteOne() : </a:t>
            </a:r>
            <a:r>
              <a:rPr b="0" i="0" lang="en-US" sz="1600">
                <a:solidFill>
                  <a:srgbClr val="374151"/>
                </a:solidFill>
                <a:latin typeface="Arial"/>
                <a:ea typeface="Arial"/>
                <a:cs typeface="Arial"/>
                <a:sym typeface="Arial"/>
              </a:rPr>
              <a:t>This method is used to delete a single document from a collection. It takes a query object as an argument, and can be used to specify criteria for determining which document should be deleted.</a:t>
            </a:r>
            <a:endParaRPr/>
          </a:p>
          <a:p>
            <a:pPr indent="-342900" lvl="0" marL="457200" rtl="0" algn="l">
              <a:lnSpc>
                <a:spcPct val="100000"/>
              </a:lnSpc>
              <a:spcBef>
                <a:spcPts val="360"/>
              </a:spcBef>
              <a:spcAft>
                <a:spcPts val="0"/>
              </a:spcAft>
              <a:buClr>
                <a:schemeClr val="dk1"/>
              </a:buClr>
              <a:buSzPts val="1800"/>
              <a:buChar char="•"/>
            </a:pPr>
            <a:r>
              <a:rPr b="1" i="0" lang="en-US" sz="1600">
                <a:solidFill>
                  <a:srgbClr val="111827"/>
                </a:solidFill>
                <a:latin typeface="Arial"/>
                <a:ea typeface="Arial"/>
                <a:cs typeface="Arial"/>
                <a:sym typeface="Arial"/>
              </a:rPr>
              <a:t>deleteMany()</a:t>
            </a:r>
            <a:r>
              <a:rPr lang="en-US" sz="1600">
                <a:solidFill>
                  <a:srgbClr val="374151"/>
                </a:solidFill>
                <a:latin typeface="Arial"/>
                <a:ea typeface="Arial"/>
                <a:cs typeface="Arial"/>
                <a:sym typeface="Arial"/>
              </a:rPr>
              <a:t> : </a:t>
            </a:r>
            <a:r>
              <a:rPr b="0" i="0" lang="en-US" sz="1600">
                <a:solidFill>
                  <a:srgbClr val="374151"/>
                </a:solidFill>
                <a:latin typeface="Arial"/>
                <a:ea typeface="Arial"/>
                <a:cs typeface="Arial"/>
                <a:sym typeface="Arial"/>
              </a:rPr>
              <a:t>This method is used to delete multiple documents from a collection. It takes a query object as an argument, and can be used to specify criteria for determining which documents should be deleted.</a:t>
            </a:r>
            <a:endParaRPr sz="1600"/>
          </a:p>
        </p:txBody>
      </p:sp>
      <p:sp>
        <p:nvSpPr>
          <p:cNvPr id="131" name="Google Shape;131;p10"/>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1"/>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Aggregation</a:t>
            </a:r>
            <a:endParaRPr/>
          </a:p>
        </p:txBody>
      </p:sp>
      <p:sp>
        <p:nvSpPr>
          <p:cNvPr id="137" name="Google Shape;137;p1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SzPts val="1800"/>
              <a:buChar char="•"/>
            </a:pPr>
            <a:r>
              <a:rPr b="0" i="0" lang="en-US" sz="1600">
                <a:solidFill>
                  <a:srgbClr val="374151"/>
                </a:solidFill>
                <a:latin typeface="Arial"/>
                <a:ea typeface="Arial"/>
                <a:cs typeface="Arial"/>
                <a:sym typeface="Arial"/>
              </a:rPr>
              <a:t>In MongoDB, the aggregation framework is a pipeline for data aggregation that allows you to process and analyze large data sets. It provides a way to perform complex data processing and analysis on data stored in MongoDB collections, and returns the results in the form of a cursor or as a document.</a:t>
            </a:r>
            <a:endParaRPr/>
          </a:p>
          <a:p>
            <a:pPr indent="-342900" lvl="0" marL="457200" rtl="0" algn="l">
              <a:lnSpc>
                <a:spcPct val="100000"/>
              </a:lnSpc>
              <a:spcBef>
                <a:spcPts val="360"/>
              </a:spcBef>
              <a:spcAft>
                <a:spcPts val="0"/>
              </a:spcAft>
              <a:buSzPts val="1800"/>
              <a:buChar char="•"/>
            </a:pPr>
            <a:r>
              <a:rPr b="0" i="0" lang="en-US" sz="1600">
                <a:solidFill>
                  <a:srgbClr val="374151"/>
                </a:solidFill>
                <a:latin typeface="Arial"/>
                <a:ea typeface="Arial"/>
                <a:cs typeface="Arial"/>
                <a:sym typeface="Arial"/>
              </a:rPr>
              <a:t>The aggregation pipeline consists of a series of stages, each of which processes the documents as they pass through the pipeline. Each stage transforms the documents as they pass through and passes the resulting documents down the pipeline.</a:t>
            </a:r>
            <a:endParaRPr/>
          </a:p>
          <a:p>
            <a:pPr indent="-228600" lvl="0" marL="457200" rtl="0" algn="l">
              <a:lnSpc>
                <a:spcPct val="100000"/>
              </a:lnSpc>
              <a:spcBef>
                <a:spcPts val="360"/>
              </a:spcBef>
              <a:spcAft>
                <a:spcPts val="0"/>
              </a:spcAft>
              <a:buSzPts val="1800"/>
              <a:buNone/>
            </a:pPr>
            <a:r>
              <a:t/>
            </a:r>
            <a:endParaRPr b="0" i="0" sz="1600">
              <a:solidFill>
                <a:srgbClr val="374151"/>
              </a:solidFill>
              <a:latin typeface="Arial"/>
              <a:ea typeface="Arial"/>
              <a:cs typeface="Arial"/>
              <a:sym typeface="Arial"/>
            </a:endParaRPr>
          </a:p>
          <a:p>
            <a:pPr indent="-228600" lvl="0" marL="457200" rtl="0" algn="l">
              <a:lnSpc>
                <a:spcPct val="100000"/>
              </a:lnSpc>
              <a:spcBef>
                <a:spcPts val="360"/>
              </a:spcBef>
              <a:spcAft>
                <a:spcPts val="0"/>
              </a:spcAft>
              <a:buClr>
                <a:schemeClr val="dk1"/>
              </a:buClr>
              <a:buSzPts val="1800"/>
              <a:buNone/>
            </a:pPr>
            <a:r>
              <a:t/>
            </a:r>
            <a:endParaRPr sz="1600"/>
          </a:p>
        </p:txBody>
      </p:sp>
      <p:sp>
        <p:nvSpPr>
          <p:cNvPr id="138" name="Google Shape;138;p11"/>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pic>
        <p:nvPicPr>
          <p:cNvPr id="139" name="Google Shape;139;p11"/>
          <p:cNvPicPr preferRelativeResize="0"/>
          <p:nvPr/>
        </p:nvPicPr>
        <p:blipFill rotWithShape="1">
          <a:blip r:embed="rId3">
            <a:alphaModFix/>
          </a:blip>
          <a:srcRect b="0" l="0" r="0" t="0"/>
          <a:stretch/>
        </p:blipFill>
        <p:spPr>
          <a:xfrm>
            <a:off x="870505" y="3407104"/>
            <a:ext cx="6140767" cy="118751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2"/>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Aggregation</a:t>
            </a:r>
            <a:endParaRPr/>
          </a:p>
        </p:txBody>
      </p:sp>
      <p:sp>
        <p:nvSpPr>
          <p:cNvPr id="145" name="Google Shape;145;p12"/>
          <p:cNvSpPr txBox="1"/>
          <p:nvPr>
            <p:ph idx="1" type="body"/>
          </p:nvPr>
        </p:nvSpPr>
        <p:spPr>
          <a:xfrm>
            <a:off x="228600" y="941775"/>
            <a:ext cx="8229600" cy="3133654"/>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b="0" i="0" lang="en-US" sz="1600">
                <a:solidFill>
                  <a:srgbClr val="374151"/>
                </a:solidFill>
                <a:latin typeface="Arial"/>
                <a:ea typeface="Arial"/>
                <a:cs typeface="Arial"/>
                <a:sym typeface="Arial"/>
              </a:rPr>
              <a:t>This example will match all documents with the ‘</a:t>
            </a:r>
            <a:r>
              <a:rPr b="1" i="0" lang="en-US" sz="1600">
                <a:solidFill>
                  <a:srgbClr val="111827"/>
                </a:solidFill>
                <a:latin typeface="Arial"/>
                <a:ea typeface="Arial"/>
                <a:cs typeface="Arial"/>
                <a:sym typeface="Arial"/>
              </a:rPr>
              <a:t>status</a:t>
            </a:r>
            <a:r>
              <a:rPr b="0" i="0" lang="en-US" sz="1600">
                <a:solidFill>
                  <a:srgbClr val="374151"/>
                </a:solidFill>
                <a:latin typeface="Arial"/>
                <a:ea typeface="Arial"/>
                <a:cs typeface="Arial"/>
                <a:sym typeface="Arial"/>
              </a:rPr>
              <a:t>’ field set to "A" and group the matching documents by ‘</a:t>
            </a:r>
            <a:r>
              <a:rPr b="1" i="0" lang="en-US" sz="1600">
                <a:solidFill>
                  <a:srgbClr val="111827"/>
                </a:solidFill>
                <a:latin typeface="Arial"/>
                <a:ea typeface="Arial"/>
                <a:cs typeface="Arial"/>
                <a:sym typeface="Arial"/>
              </a:rPr>
              <a:t>cust_id</a:t>
            </a:r>
            <a:r>
              <a:rPr b="0" i="0" lang="en-US" sz="1600">
                <a:solidFill>
                  <a:srgbClr val="374151"/>
                </a:solidFill>
                <a:latin typeface="Arial"/>
                <a:ea typeface="Arial"/>
                <a:cs typeface="Arial"/>
                <a:sym typeface="Arial"/>
              </a:rPr>
              <a:t>’ calculating the total ‘</a:t>
            </a:r>
            <a:r>
              <a:rPr b="1" i="0" lang="en-US" sz="1600">
                <a:solidFill>
                  <a:srgbClr val="111827"/>
                </a:solidFill>
                <a:latin typeface="Arial"/>
                <a:ea typeface="Arial"/>
                <a:cs typeface="Arial"/>
                <a:sym typeface="Arial"/>
              </a:rPr>
              <a:t> amount’ </a:t>
            </a:r>
            <a:r>
              <a:rPr b="0" i="0" lang="en-US" sz="1600">
                <a:solidFill>
                  <a:srgbClr val="374151"/>
                </a:solidFill>
                <a:latin typeface="Arial"/>
                <a:ea typeface="Arial"/>
                <a:cs typeface="Arial"/>
                <a:sym typeface="Arial"/>
              </a:rPr>
              <a:t>for each group. The resulting documents will contain the ‘</a:t>
            </a:r>
            <a:r>
              <a:rPr b="1" i="0" lang="en-US" sz="1600">
                <a:solidFill>
                  <a:srgbClr val="111827"/>
                </a:solidFill>
                <a:latin typeface="Arial"/>
                <a:ea typeface="Arial"/>
                <a:cs typeface="Arial"/>
                <a:sym typeface="Arial"/>
              </a:rPr>
              <a:t>cust_id’ </a:t>
            </a:r>
            <a:r>
              <a:rPr b="0" i="0" lang="en-US" sz="1600">
                <a:solidFill>
                  <a:srgbClr val="374151"/>
                </a:solidFill>
                <a:latin typeface="Arial"/>
                <a:ea typeface="Arial"/>
                <a:cs typeface="Arial"/>
                <a:sym typeface="Arial"/>
              </a:rPr>
              <a:t>and the calculated ‘</a:t>
            </a:r>
            <a:r>
              <a:rPr b="1" i="0" lang="en-US" sz="1600">
                <a:solidFill>
                  <a:srgbClr val="111827"/>
                </a:solidFill>
                <a:latin typeface="Arial"/>
                <a:ea typeface="Arial"/>
                <a:cs typeface="Arial"/>
                <a:sym typeface="Arial"/>
              </a:rPr>
              <a:t>total’ </a:t>
            </a:r>
            <a:r>
              <a:rPr b="0" i="0" lang="en-US" sz="1600">
                <a:solidFill>
                  <a:srgbClr val="374151"/>
                </a:solidFill>
                <a:latin typeface="Arial"/>
                <a:ea typeface="Arial"/>
                <a:cs typeface="Arial"/>
                <a:sym typeface="Arial"/>
              </a:rPr>
              <a:t>for each group</a:t>
            </a:r>
            <a:endParaRPr/>
          </a:p>
          <a:p>
            <a:pPr indent="-228600" lvl="0" marL="457200" rtl="0" algn="l">
              <a:lnSpc>
                <a:spcPct val="100000"/>
              </a:lnSpc>
              <a:spcBef>
                <a:spcPts val="360"/>
              </a:spcBef>
              <a:spcAft>
                <a:spcPts val="0"/>
              </a:spcAft>
              <a:buClr>
                <a:schemeClr val="dk1"/>
              </a:buClr>
              <a:buSzPts val="1800"/>
              <a:buNone/>
            </a:pPr>
            <a:r>
              <a:t/>
            </a:r>
            <a:endParaRPr sz="1600"/>
          </a:p>
        </p:txBody>
      </p:sp>
      <p:sp>
        <p:nvSpPr>
          <p:cNvPr id="146" name="Google Shape;146;p12"/>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3"/>
          <p:cNvSpPr txBox="1"/>
          <p:nvPr>
            <p:ph type="title"/>
          </p:nvPr>
        </p:nvSpPr>
        <p:spPr>
          <a:xfrm>
            <a:off x="457200" y="133350"/>
            <a:ext cx="5029200" cy="46077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Calibri"/>
              <a:buNone/>
            </a:pPr>
            <a:r>
              <a:rPr lang="en-US"/>
              <a:t>Aggregation</a:t>
            </a:r>
            <a:endParaRPr/>
          </a:p>
        </p:txBody>
      </p:sp>
      <p:sp>
        <p:nvSpPr>
          <p:cNvPr id="152" name="Google Shape;152;p13"/>
          <p:cNvSpPr txBox="1"/>
          <p:nvPr>
            <p:ph idx="12" type="sldNum"/>
          </p:nvPr>
        </p:nvSpPr>
        <p:spPr>
          <a:xfrm>
            <a:off x="8458200" y="4850606"/>
            <a:ext cx="533400" cy="29289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pic>
        <p:nvPicPr>
          <p:cNvPr descr="Aggregation in MongoDB. Aggregation methods in MongoDB | by Vaibhav Sharma  | Medium" id="153" name="Google Shape;153;p13"/>
          <p:cNvPicPr preferRelativeResize="0"/>
          <p:nvPr/>
        </p:nvPicPr>
        <p:blipFill rotWithShape="1">
          <a:blip r:embed="rId3">
            <a:alphaModFix/>
          </a:blip>
          <a:srcRect b="0" l="0" r="0" t="0"/>
          <a:stretch/>
        </p:blipFill>
        <p:spPr>
          <a:xfrm>
            <a:off x="573889" y="748912"/>
            <a:ext cx="7617415" cy="410167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Ashok HOME</dc:creator>
</cp:coreProperties>
</file>